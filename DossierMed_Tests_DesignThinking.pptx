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TESTS D'UTILISABILITÉ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l'ergonomie de chaque module DossierMed avec les utilisateurs réels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411480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JUSTIFICATION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DossierMed regroupe 6 profils différents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(médecin, infirmier, pharmacien, labo, patient, admin)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avec des workflows critiques distincts.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d'utilisabilité révèle les frictions avant le code final.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4343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43000"/>
            <a:ext cx="4343400" cy="3200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61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 D'IMPLÉMENTATION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1-2 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Recrutement de 5 participants/profil (30 total)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Sessions de 45 min avec protocole think-aloud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 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Analyse + rapport d'insights + priorisation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Figma + Maze / enregistrement écran Lookback.io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2011680" cy="1600200"/>
          </a:xfrm>
          <a:prstGeom prst="rect">
            <a:avLst/>
          </a:prstGeom>
          <a:solidFill>
            <a:srgbClr val="D4EFDF"/>
          </a:solidFill>
          <a:ln w="12700">
            <a:solidFill>
              <a:srgbClr val="1B5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71800"/>
            <a:ext cx="2011680" cy="27432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" y="32918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dossier patient en &lt; 10 sec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04872" y="2971800"/>
            <a:ext cx="201168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04872" y="2971800"/>
            <a:ext cx="201168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Infirmier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78024" y="32918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constantes vitales via tablette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81144" y="2971800"/>
            <a:ext cx="2011680" cy="1600200"/>
          </a:xfrm>
          <a:prstGeom prst="rect">
            <a:avLst/>
          </a:prstGeom>
          <a:solidFill>
            <a:srgbClr val="FDEBD0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2971800"/>
            <a:ext cx="2011680" cy="2743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54296" y="32918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&amp; délivrer une ordonnance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57416" y="2971800"/>
            <a:ext cx="2011680" cy="1600200"/>
          </a:xfrm>
          <a:prstGeom prst="rect">
            <a:avLst/>
          </a:prstGeom>
          <a:solidFill>
            <a:srgbClr val="F0EAD6"/>
          </a:solidFill>
          <a:ln w="1270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57416" y="2971800"/>
            <a:ext cx="201168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0568" y="32918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à son dossier numérique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9728" y="4663440"/>
            <a:ext cx="9034272" cy="4800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CIBLES   ·   Taux de complétion de tâche ≥ 85%   ·   Score SUS ≥ 70   ·   Temps sur tâche critique ≤ 10s   ·   Taux d'erreur critique = 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TESTS DE SÉCURITÉ CLINIQUE &amp; 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Zéro erreur médicale tolérée : valider les garde-fous de DossierMed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97280"/>
            <a:ext cx="27889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 des Données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2642616" cy="6858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63624"/>
            <a:ext cx="256946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DPP centralise des données de santé ultra-sensibles. Toute faille = violation RGPD + risque patient.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30428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pénétration (RBAC, injections SQL)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68833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isolation des rôles (patient ≠ médecin ≠ admin)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d'accès : traçabilité complète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45643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456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BD et transit (TLS, AES-256)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4315968"/>
            <a:ext cx="2642616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OWASP ZAP, Burp Suite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2968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1097280"/>
            <a:ext cx="278892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1115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Alertes Médicales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536192"/>
            <a:ext cx="2642616" cy="68580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1563624"/>
            <a:ext cx="256946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d'alertes allergies/interactions est la fonctionnalité de sécurité n°1. Un bug = risque vital.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304288"/>
            <a:ext cx="20116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93008" y="23042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Injecter 50+ cas d'allergies connues (ex. Pénicilline)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2688336"/>
            <a:ext cx="20116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93008" y="268833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faux positifs et faux négatifs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3072384"/>
            <a:ext cx="20116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93008" y="307238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blocage effectif côté pharmacie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3456432"/>
            <a:ext cx="20116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93008" y="3456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délai de déclenchement de l'alerte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46120" y="4315968"/>
            <a:ext cx="2642616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Scénarios cliniques réels + QA manuelle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63056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1097280"/>
            <a:ext cx="278892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115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Cohérence des Données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36208" y="1536192"/>
            <a:ext cx="2642616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1563624"/>
            <a:ext cx="256946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= toute mise à jour (labo, prescription) doit se propager sans délai ni perte.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36208" y="2304288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83096" y="23042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de flux labo → médecin → pharmacie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36208" y="2688336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83096" y="268833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coupures réseau (mode offline CHW)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36208" y="3072384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83096" y="307238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cohérence après sync déconnexion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36208" y="3456432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83096" y="3456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charge (100+ utilisateurs simultanés)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36208" y="4315968"/>
            <a:ext cx="2642616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54496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Cypress, Jest, k6 load testing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9728" y="4709160"/>
            <a:ext cx="9034272" cy="4343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727448"/>
            <a:ext cx="8686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   ·   Ces tests bloquent le déploiement — aucune mise en production sans validation complète de tous les cas critiques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— TREE TESTING &amp; ADOPTION COMPORTEMENTALE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 que médecins &amp; utilisateurs marocains trouvent l'information sans effort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78992"/>
            <a:ext cx="2834640" cy="3200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POURQUOI CE TEST 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Maroc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médecins travaillent encore majoritairement sur papier.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navigation est contre-intuitive ou trop « tech »,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de rejet du système est élevé.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test révèle les points de blocage</a:t>
            </a:r>
            <a:pPr indent="0" marL="0">
              <a:buNone/>
            </a:pPr>
            <a:r>
              <a:rPr lang="en-US" sz="10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avant le déploiement.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" y="3035808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3035808"/>
            <a:ext cx="2834640" cy="3200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RISQUE D'ADOPTION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19856"/>
            <a:ext cx="2688336" cy="41148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3438144"/>
            <a:ext cx="2615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ancien :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Habitude papier/Excel difficile à changer sans UX intuitive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922776"/>
            <a:ext cx="2688336" cy="411480"/>
          </a:xfrm>
          <a:prstGeom prst="rect">
            <a:avLst/>
          </a:prstGeom>
          <a:solidFill>
            <a:srgbClr val="E8DAE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941064"/>
            <a:ext cx="2615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linguistique :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Darija / Arabe / Français : les libellés doivent être clairs pour tous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880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78992"/>
            <a:ext cx="2880360" cy="3200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97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ARBORESCENCE TESTÉE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1508760"/>
            <a:ext cx="1234440" cy="25603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1508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DossierMed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6300" y="1764792"/>
            <a:ext cx="0" cy="164592"/>
          </a:xfrm>
          <a:prstGeom prst="line">
            <a:avLst/>
          </a:prstGeom>
          <a:noFill/>
          <a:ln w="19050">
            <a:solidFill>
              <a:srgbClr val="0D6E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1929384"/>
            <a:ext cx="2240280" cy="0"/>
          </a:xfrm>
          <a:prstGeom prst="line">
            <a:avLst/>
          </a:prstGeom>
          <a:noFill/>
          <a:ln w="19050">
            <a:solidFill>
              <a:srgbClr val="0D6E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75888" y="1929384"/>
            <a:ext cx="0" cy="164592"/>
          </a:xfrm>
          <a:prstGeom prst="line">
            <a:avLst/>
          </a:prstGeom>
          <a:noFill/>
          <a:ln w="19050">
            <a:solidFill>
              <a:srgbClr val="1B5E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093976"/>
            <a:ext cx="685800" cy="237744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Patients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53128" y="1929384"/>
            <a:ext cx="0" cy="164592"/>
          </a:xfrm>
          <a:prstGeom prst="line">
            <a:avLst/>
          </a:prstGeom>
          <a:noFill/>
          <a:ln w="19050">
            <a:solidFill>
              <a:srgbClr val="0D6E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2093976"/>
            <a:ext cx="685800" cy="23774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30368" y="1929384"/>
            <a:ext cx="0" cy="164592"/>
          </a:xfrm>
          <a:prstGeom prst="line">
            <a:avLst/>
          </a:prstGeom>
          <a:noFill/>
          <a:ln w="19050">
            <a:solidFill>
              <a:srgbClr val="1A52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093976"/>
            <a:ext cx="68580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Résultats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75888" y="2331720"/>
            <a:ext cx="0" cy="137160"/>
          </a:xfrm>
          <a:prstGeom prst="line">
            <a:avLst/>
          </a:prstGeom>
          <a:noFill/>
          <a:ln w="12700">
            <a:solidFill>
              <a:srgbClr val="1B5E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468880"/>
            <a:ext cx="594360" cy="0"/>
          </a:xfrm>
          <a:prstGeom prst="line">
            <a:avLst/>
          </a:prstGeom>
          <a:noFill/>
          <a:ln w="12700">
            <a:solidFill>
              <a:srgbClr val="1B5E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9584" y="2468880"/>
            <a:ext cx="0" cy="118872"/>
          </a:xfrm>
          <a:prstGeom prst="line">
            <a:avLst/>
          </a:prstGeom>
          <a:noFill/>
          <a:ln w="12700">
            <a:solidFill>
              <a:srgbClr val="1B5E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82696" y="2587752"/>
            <a:ext cx="502920" cy="210312"/>
          </a:xfrm>
          <a:prstGeom prst="rect">
            <a:avLst/>
          </a:prstGeom>
          <a:solidFill>
            <a:srgbClr val="D4EFD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82696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5E3B"/>
                </a:solidFill>
              </a:rPr>
              <a:t>Dossier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86784" y="2468880"/>
            <a:ext cx="0" cy="118872"/>
          </a:xfrm>
          <a:prstGeom prst="line">
            <a:avLst/>
          </a:prstGeom>
          <a:noFill/>
          <a:ln w="12700">
            <a:solidFill>
              <a:srgbClr val="1B5E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39896" y="2587752"/>
            <a:ext cx="502920" cy="210312"/>
          </a:xfrm>
          <a:prstGeom prst="rect">
            <a:avLst/>
          </a:prstGeom>
          <a:solidFill>
            <a:srgbClr val="D4EFD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9896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5E3B"/>
                </a:solidFill>
              </a:rPr>
              <a:t>Ordon.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53128" y="2331720"/>
            <a:ext cx="0" cy="137160"/>
          </a:xfrm>
          <a:prstGeom prst="line">
            <a:avLst/>
          </a:prstGeom>
          <a:noFill/>
          <a:ln w="12700">
            <a:solidFill>
              <a:srgbClr val="0D6E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0" y="2468880"/>
            <a:ext cx="502920" cy="0"/>
          </a:xfrm>
          <a:prstGeom prst="line">
            <a:avLst/>
          </a:prstGeom>
          <a:noFill/>
          <a:ln w="12700">
            <a:solidFill>
              <a:srgbClr val="0D6E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400" y="2468880"/>
            <a:ext cx="0" cy="118872"/>
          </a:xfrm>
          <a:prstGeom prst="line">
            <a:avLst/>
          </a:prstGeom>
          <a:noFill/>
          <a:ln w="12700">
            <a:solidFill>
              <a:srgbClr val="0D6E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96512" y="2587752"/>
            <a:ext cx="502920" cy="210312"/>
          </a:xfrm>
          <a:prstGeom prst="rect">
            <a:avLst/>
          </a:prstGeom>
          <a:solidFill>
            <a:srgbClr val="D0EEE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96512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6E6E"/>
                </a:solidFill>
              </a:rPr>
              <a:t>RDV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54880" y="2468880"/>
            <a:ext cx="0" cy="118872"/>
          </a:xfrm>
          <a:prstGeom prst="line">
            <a:avLst/>
          </a:prstGeom>
          <a:noFill/>
          <a:ln w="12700">
            <a:solidFill>
              <a:srgbClr val="0D6E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07992" y="2587752"/>
            <a:ext cx="502920" cy="210312"/>
          </a:xfrm>
          <a:prstGeom prst="rect">
            <a:avLst/>
          </a:prstGeom>
          <a:solidFill>
            <a:srgbClr val="D0EEE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992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6E6E"/>
                </a:solidFill>
              </a:rPr>
              <a:t>Rappels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230368" y="2331720"/>
            <a:ext cx="0" cy="13716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3480" y="2468880"/>
            <a:ext cx="502920" cy="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9784" y="2468880"/>
            <a:ext cx="0" cy="118872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82896" y="2587752"/>
            <a:ext cx="502920" cy="210312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82896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276"/>
                </a:solidFill>
              </a:rPr>
              <a:t>Labo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541264" y="2468880"/>
            <a:ext cx="0" cy="118872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94376" y="2587752"/>
            <a:ext cx="502920" cy="210312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94376" y="25877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276"/>
                </a:solidFill>
              </a:rPr>
              <a:t>Radios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37560" y="29260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SOUMISES AUX UTILISATEURS :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37560" y="3200400"/>
            <a:ext cx="2697480" cy="347472"/>
          </a:xfrm>
          <a:prstGeom prst="rect">
            <a:avLst/>
          </a:prstGeom>
          <a:solidFill>
            <a:srgbClr val="F5FAFA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321868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Trouver les résultats labo d'un patient urgence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37560" y="3602736"/>
            <a:ext cx="2697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0" y="362102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Modifier un RDV depuis la vue patient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337560" y="4005072"/>
            <a:ext cx="2697480" cy="347472"/>
          </a:xfrm>
          <a:prstGeom prst="rect">
            <a:avLst/>
          </a:prstGeom>
          <a:solidFill>
            <a:srgbClr val="F5FAFA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0" y="402336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Accéder à l'historique d'ordonnances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91072" y="1078992"/>
            <a:ext cx="2743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91072" y="1078992"/>
            <a:ext cx="2743200" cy="3200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82512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 D'IMPLÉMENTATION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64224" y="1481328"/>
            <a:ext cx="2596896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64224" y="1481328"/>
            <a:ext cx="685800" cy="5486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64224" y="14813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Semaine 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95744" y="149961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l'arborescence de DossierMed (menus, labels, hiérarchie)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364224" y="2048256"/>
            <a:ext cx="2596896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64224" y="2048256"/>
            <a:ext cx="685800" cy="5486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64224" y="204825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Semaine 2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095744" y="206654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Recruter 15 participants : 8 médecins marocains + 7 patients (zones urbaine &amp; rurale)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64224" y="2615184"/>
            <a:ext cx="2596896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64224" y="2615184"/>
            <a:ext cx="685800" cy="5486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4224" y="261518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Semaine 3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095744" y="263347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Optimal Workshop / Treejack : chaque participant réalise 5–7 tâches de navigation sans aide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364224" y="3182112"/>
            <a:ext cx="2596896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64224" y="3182112"/>
            <a:ext cx="685800" cy="5486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64224" y="318211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Semaine 4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095744" y="320040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: taux de succès direct, taux d'errance, nœuds problématiques → recommandations UX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364224" y="3749040"/>
            <a:ext cx="2596896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64224" y="3749040"/>
            <a:ext cx="68580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64224" y="3749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Semaine 5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095744" y="37673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les libellés / structure si score &lt; seuil → Re-test itératif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364224" y="4334256"/>
            <a:ext cx="2596896" cy="256032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82512" y="4343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Optimal Workshop · Treejack · Maze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9728" y="4663440"/>
            <a:ext cx="9034272" cy="4800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RÉUSSITE   ·   Taux de succès direct ≥ 80%   ·   &lt; 2 étapes d'errance par tâche   ·   Si échec → refonte labels/arborescence obligatoire avant lancement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D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— A/B TESTING  ·  CANAL D'INCLUSION NUMÉRIQUE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SMS/USSD vs Kiosque de Santé : quel canal garder pour les zones rurales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8741664" cy="475488"/>
          </a:xfrm>
          <a:prstGeom prst="rect">
            <a:avLst/>
          </a:prstGeom>
          <a:solidFill>
            <a:srgbClr val="EAD7F7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97280"/>
            <a:ext cx="8558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deux canaux simultanément représente un coût opérationnel élevé (infrastructure kiosques + opérateurs SMS). </a:t>
            </a:r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L'A/B Test détermine lequel maximise l'adoption réelle auprès des populations cibles.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64208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664208"/>
            <a:ext cx="39319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682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A  —  📱 SMS / USSD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2103120"/>
            <a:ext cx="3749040" cy="45720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1214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basique suffisant  ·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sans internet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624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880360"/>
            <a:ext cx="16459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8803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88036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déploiement quasi nul (réseau existant)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154680"/>
            <a:ext cx="16459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54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" y="31546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maximale : fonctionne partout au Maroc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429000"/>
            <a:ext cx="16459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4290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4290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RDV, résultats labo envoyés automatiquement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3703320"/>
            <a:ext cx="16459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703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" y="37033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maintenance physique requise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" y="3995928"/>
            <a:ext cx="374904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014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Limite 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limitée, pas de consultation dossier complet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9472" y="1664208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1664208"/>
            <a:ext cx="3931920" cy="384048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1682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B  —  🏪 KIOSQUE DE SANTÉ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10912" y="2103120"/>
            <a:ext cx="3749040" cy="457200"/>
          </a:xfrm>
          <a:prstGeom prst="rect">
            <a:avLst/>
          </a:prstGeom>
          <a:solidFill>
            <a:srgbClr val="D4EFD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21214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au DPP  ·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guidée sur place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10912" y="2624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10912" y="2880360"/>
            <a:ext cx="164592" cy="16459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8803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12080" y="288036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dossier complet + résultats labo visuels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10912" y="3154680"/>
            <a:ext cx="164592" cy="16459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154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2080" y="31546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santé sur place = accompagnement humain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10912" y="3429000"/>
            <a:ext cx="164592" cy="16459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4290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2080" y="34290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populations âgées ou peu alphabétisées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10912" y="3703320"/>
            <a:ext cx="164592" cy="16459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3703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0" y="37033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biométrique possible (poids, TA, SpO2)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10912" y="3995928"/>
            <a:ext cx="374904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4014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Limite 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élevé (installation, énergie solaire, agent)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15968" y="2697480"/>
            <a:ext cx="512064" cy="51206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15968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9728" y="4663440"/>
            <a:ext cx="9034272" cy="4800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D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les 2 canaux sur 2 régions distinctes pendant 6 semaines → comparer adoption, satisfaction &amp; coût → garder le meilleur, ou SMS par défaut si résultats équivalents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DossierMed – Plan de Tests Design Thinking</dc:title>
  <dc:subject>PptxGenJS Presentation</dc:subject>
  <dc:creator>PptxGenJS</dc:creator>
  <cp:lastModifiedBy>PptxGenJS</cp:lastModifiedBy>
  <cp:revision>1</cp:revision>
  <dcterms:created xsi:type="dcterms:W3CDTF">2026-03-23T20:46:34Z</dcterms:created>
  <dcterms:modified xsi:type="dcterms:W3CDTF">2026-03-23T20:46:34Z</dcterms:modified>
</cp:coreProperties>
</file>